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603E35-419D-4FA2-AC60-1A85FD87167D}"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FCDE92-17DA-484C-892D-A471F6070E76}" type="slidenum">
              <a:rPr lang="en-IN" smtClean="0"/>
              <a:t>‹#›</a:t>
            </a:fld>
            <a:endParaRPr lang="en-IN"/>
          </a:p>
        </p:txBody>
      </p:sp>
    </p:spTree>
    <p:extLst>
      <p:ext uri="{BB962C8B-B14F-4D97-AF65-F5344CB8AC3E}">
        <p14:creationId xmlns:p14="http://schemas.microsoft.com/office/powerpoint/2010/main" val="2623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FCDE92-17DA-484C-892D-A471F6070E76}" type="slidenum">
              <a:rPr lang="en-IN" smtClean="0"/>
              <a:t>2</a:t>
            </a:fld>
            <a:endParaRPr lang="en-IN"/>
          </a:p>
        </p:txBody>
      </p:sp>
    </p:spTree>
    <p:extLst>
      <p:ext uri="{BB962C8B-B14F-4D97-AF65-F5344CB8AC3E}">
        <p14:creationId xmlns:p14="http://schemas.microsoft.com/office/powerpoint/2010/main" val="1097192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B35B-15DF-1563-E1E6-3845FCA76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E6EE55-FF90-A823-16A1-6F6450F8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645E6-E02A-630E-9E35-B5509852492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D67CFF2-04C4-D152-4B8C-AFED00A055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B12CE-DCE2-96EF-7CEE-8E5D563EEC9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01681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6BCA-7DA4-AC5D-DB5B-BF00F775EB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A1BD7-71AC-9349-A609-C51E816F4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B6FAA-61B0-77BB-CEF0-F1CF07A34D69}"/>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2396C92B-15E0-3E8F-AD28-102BD8E9B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FF385-A966-EA8E-0ECE-49D772CAFE8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5221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8E79-18B3-6824-A352-5DD67F9E08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F9A1D8-509A-42D0-50B0-76D2447C33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07469-EB53-4791-3819-CB948CDA0E83}"/>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4CB43A63-86B2-56C2-146C-375C09EF7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B58CA-558F-0BA3-2E77-81074CAA5A7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44576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20D9-4F99-6D14-D995-CAA15D3F8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599739-08A2-9366-52EB-7D3C17D39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1E9B05-C5F0-60AB-4006-D800F2FCB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445333-A7F4-9901-56FD-ACDD167DEB4D}"/>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07A76C3F-6B03-39CA-5636-A61F11DF6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F9D20D-CA3D-5E6B-0E76-D97F909C1A6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41379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7F43-199E-9BCE-4D50-8954E0BE8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6944D7-22FF-36E1-07F6-22B641C1A8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D578C-0C27-36FD-D472-D82FECC0B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7E7AE5-1AAE-E65C-8B3C-DFFEBDDFC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FE1B1-3F36-0693-EC88-BD4DD6BA76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BC6DC3-E138-7203-3032-7A1B1C8F72CB}"/>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8" name="Footer Placeholder 7">
            <a:extLst>
              <a:ext uri="{FF2B5EF4-FFF2-40B4-BE49-F238E27FC236}">
                <a16:creationId xmlns:a16="http://schemas.microsoft.com/office/drawing/2014/main" id="{04CA86E1-47F6-C489-4161-38C1E5B295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72C850-8984-D4A3-A7DE-A2403DF600F5}"/>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23125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610CE-4398-0C10-BE9E-9D6A4199D1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E4C36B-338F-4187-B505-9F3CCC6AA265}"/>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4" name="Footer Placeholder 3">
            <a:extLst>
              <a:ext uri="{FF2B5EF4-FFF2-40B4-BE49-F238E27FC236}">
                <a16:creationId xmlns:a16="http://schemas.microsoft.com/office/drawing/2014/main" id="{DC00D226-7EC5-6E85-9BBB-1CCA90967E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EED67B-ACA7-C075-7748-E1BB773FAA8D}"/>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7529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109B3-7EF0-CD32-1BFA-5328B75A014E}"/>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3" name="Footer Placeholder 2">
            <a:extLst>
              <a:ext uri="{FF2B5EF4-FFF2-40B4-BE49-F238E27FC236}">
                <a16:creationId xmlns:a16="http://schemas.microsoft.com/office/drawing/2014/main" id="{5FEA2E8F-C387-572C-CD62-8CF7A66F6B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D60C2C-1F2B-51AB-C9F8-19DB99925E1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645619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6AEC-9BA0-FC55-91D9-596305A8DE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FD214-E3F2-EEB2-2959-022E2A6FF6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20B84B-ADF1-B398-7318-B2C5B1F95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FB36-A21B-414B-9428-9E72946DE6B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C1F86F34-1B4B-6F27-5041-44614842D3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251D5-4BB1-F69B-6B1F-7E84E1620B4F}"/>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4267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2E39-BD9F-5C3C-D08A-AB8A6285B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602E83-9BBB-546C-6579-DB7689994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681896-3FD0-751E-CB7B-EA1C04BDB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8E466-427F-63B4-ED25-284497B2E737}"/>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EB59ABBE-94A1-F6B9-10C0-40671AE59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34366-3637-7934-0DF7-A5830FB116EB}"/>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4385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C403-1CBB-80EC-73A8-3EDB4CFC9E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964E7E-9512-F79C-3FD5-4EBFF865A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4D681-3469-5E46-6E8F-BB3E5942BC78}"/>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C24237A4-C073-9A53-503A-8B3D7CE91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EE962-73F4-EA2D-AED4-1273FAF7640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27557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782872-BD1F-5FE4-6E63-AD318388E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91EE48-43E8-58C9-147D-9441A5177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5C8A8-3FED-5156-3D67-A68A70FF666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DF18C20D-3E76-6CC2-EA7D-E05C92D04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1B5D8-51DD-5D53-BABF-6B8E5E54861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76470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0BA52-6A8D-EDB3-CBD0-0AAD804FA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128725-ED4F-0BC9-E489-8DF39A73F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D81F21-289C-BD44-047B-155F9FB92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37B1A81-041A-5B2C-CADF-7173BB18D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89948D-7CCA-4327-C4DE-AA33A24A47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BF9F6-EF0C-42F6-AD23-B39F56094C11}" type="slidenum">
              <a:rPr lang="en-IN" smtClean="0"/>
              <a:t>‹#›</a:t>
            </a:fld>
            <a:endParaRPr lang="en-IN"/>
          </a:p>
        </p:txBody>
      </p:sp>
    </p:spTree>
    <p:extLst>
      <p:ext uri="{BB962C8B-B14F-4D97-AF65-F5344CB8AC3E}">
        <p14:creationId xmlns:p14="http://schemas.microsoft.com/office/powerpoint/2010/main" val="2650676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FA9D-AA8C-183A-340F-4284C2533B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00F163-E7FA-1B2C-D5E0-4ABC6D628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BD2B560-468C-AE00-FD08-190FAA9C2CD5}"/>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Title</a:t>
            </a:r>
          </a:p>
        </p:txBody>
      </p:sp>
      <p:sp>
        <p:nvSpPr>
          <p:cNvPr id="6" name="Rectangle 2">
            <a:extLst>
              <a:ext uri="{FF2B5EF4-FFF2-40B4-BE49-F238E27FC236}">
                <a16:creationId xmlns:a16="http://schemas.microsoft.com/office/drawing/2014/main" id="{B88AD9CD-CFB0-97F2-617B-EF1420132690}"/>
              </a:ext>
            </a:extLst>
          </p:cNvPr>
          <p:cNvSpPr>
            <a:spLocks noGrp="1" noChangeArrowheads="1"/>
          </p:cNvSpPr>
          <p:nvPr>
            <p:ph type="subTitle" idx="1"/>
          </p:nvPr>
        </p:nvSpPr>
        <p:spPr bwMode="auto">
          <a:xfrm>
            <a:off x="1618268" y="3429000"/>
            <a:ext cx="753135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Project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US" altLang="en-US" sz="1800"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VitaSakhi</a:t>
            </a:r>
            <a:endParaRPr lang="en-US" altLang="en-US" sz="18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Tagline: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kumimoji="0" lang="en-GB"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AI-powered maternal risk screening for rural ASHA workers</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Team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a:latin typeface="Open sans" panose="020B0606030504020204" pitchFamily="34" charset="0"/>
                <a:ea typeface="Open sans" panose="020B0606030504020204" pitchFamily="34" charset="0"/>
                <a:cs typeface="Open sans" panose="020B0606030504020204" pitchFamily="34" charset="0"/>
              </a:rPr>
              <a:t>Byte.exe - </a:t>
            </a:r>
            <a:r>
              <a:rPr lang="en-US" altLang="en-US" sz="1800" dirty="0" err="1">
                <a:latin typeface="Open sans" panose="020B0606030504020204" pitchFamily="34" charset="0"/>
                <a:ea typeface="Open sans" panose="020B0606030504020204" pitchFamily="34" charset="0"/>
                <a:cs typeface="Open sans" panose="020B0606030504020204" pitchFamily="34" charset="0"/>
              </a:rPr>
              <a:t>DevCraft</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Event:</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DevCraft: Simon’s Command Line (or your event name)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Date</a:t>
            </a:r>
            <a:r>
              <a:rPr lang="en-US" altLang="en-US" sz="1800" dirty="0">
                <a:latin typeface="Open sans" panose="020B0606030504020204" pitchFamily="34" charset="0"/>
                <a:ea typeface="Open sans" panose="020B0606030504020204" pitchFamily="34" charset="0"/>
                <a:cs typeface="Open sans" panose="020B0606030504020204" pitchFamily="34" charset="0"/>
              </a:rPr>
              <a:t>: 6</a:t>
            </a:r>
            <a:r>
              <a:rPr lang="en-US" altLang="en-US" sz="1800" baseline="30000" dirty="0">
                <a:latin typeface="Open sans" panose="020B0606030504020204" pitchFamily="34" charset="0"/>
                <a:ea typeface="Open sans" panose="020B0606030504020204" pitchFamily="34" charset="0"/>
                <a:cs typeface="Open sans" panose="020B0606030504020204" pitchFamily="34" charset="0"/>
              </a:rPr>
              <a:t>th</a:t>
            </a:r>
            <a:r>
              <a:rPr lang="en-US" altLang="en-US" sz="1800" dirty="0">
                <a:latin typeface="Open sans" panose="020B0606030504020204" pitchFamily="34" charset="0"/>
                <a:ea typeface="Open sans" panose="020B0606030504020204" pitchFamily="34" charset="0"/>
                <a:cs typeface="Open sans" panose="020B0606030504020204" pitchFamily="34" charset="0"/>
              </a:rPr>
              <a:t> and 7</a:t>
            </a:r>
            <a:r>
              <a:rPr lang="en-US" altLang="en-US" sz="1800" baseline="30000" dirty="0">
                <a:latin typeface="Open sans" panose="020B0606030504020204" pitchFamily="34" charset="0"/>
                <a:ea typeface="Open sans" panose="020B0606030504020204" pitchFamily="34" charset="0"/>
                <a:cs typeface="Open sans" panose="020B0606030504020204" pitchFamily="34" charset="0"/>
              </a:rPr>
              <a:t>th</a:t>
            </a:r>
            <a:r>
              <a:rPr lang="en-US" altLang="en-US" sz="1800" dirty="0">
                <a:latin typeface="Open sans" panose="020B0606030504020204" pitchFamily="34" charset="0"/>
                <a:ea typeface="Open sans" panose="020B0606030504020204" pitchFamily="34" charset="0"/>
                <a:cs typeface="Open sans" panose="020B0606030504020204" pitchFamily="34" charset="0"/>
              </a:rPr>
              <a:t> April 2026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Open sans" panose="020B0606030504020204" pitchFamily="34" charset="0"/>
                <a:ea typeface="Open sans" panose="020B0606030504020204" pitchFamily="34" charset="0"/>
                <a:cs typeface="Open sans" panose="020B0606030504020204" pitchFamily="34" charset="0"/>
              </a:rPr>
              <a:t>Domain: </a:t>
            </a:r>
            <a:r>
              <a:rPr lang="en-US" altLang="en-US" sz="1800" dirty="0">
                <a:latin typeface="Open sans" panose="020B0606030504020204" pitchFamily="34" charset="0"/>
                <a:ea typeface="Open sans" panose="020B0606030504020204" pitchFamily="34" charset="0"/>
                <a:cs typeface="Open sans" panose="020B0606030504020204" pitchFamily="34" charset="0"/>
              </a:rPr>
              <a:t>Healthcare + AI</a:t>
            </a:r>
            <a:endParaRPr kumimoji="0" lang="en-US" altLang="en-US" sz="180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993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8B3B-0FDC-937D-B730-D2DCFE2DBA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A4A0CE-87ED-FA30-F1CA-9ABEA2411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7E70B9-3D8E-AC8C-FD71-33A8999FB4B9}"/>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Problem Statement</a:t>
            </a:r>
          </a:p>
        </p:txBody>
      </p:sp>
      <p:sp>
        <p:nvSpPr>
          <p:cNvPr id="3" name="Subtitle 2">
            <a:extLst>
              <a:ext uri="{FF2B5EF4-FFF2-40B4-BE49-F238E27FC236}">
                <a16:creationId xmlns:a16="http://schemas.microsoft.com/office/drawing/2014/main" id="{F76C42E2-B03A-1F39-A18A-616A4BA0320A}"/>
              </a:ext>
            </a:extLst>
          </p:cNvPr>
          <p:cNvSpPr>
            <a:spLocks noGrp="1"/>
          </p:cNvSpPr>
          <p:nvPr>
            <p:ph type="subTitle" idx="1"/>
          </p:nvPr>
        </p:nvSpPr>
        <p:spPr>
          <a:xfrm>
            <a:off x="1250623" y="3319234"/>
            <a:ext cx="9690754" cy="2770482"/>
          </a:xfrm>
        </p:spPr>
        <p:txBody>
          <a:bodyPr>
            <a:normAutofit/>
          </a:bodyPr>
          <a:lstStyle/>
          <a:p>
            <a:r>
              <a:rPr lang="en-GB" dirty="0"/>
              <a:t>In India, a maternal death occurs approximately every fifteen minutes, with 97% of these tragedies happening in rural areas. While 1.05 million ASHA workers conduct home visits, they lack real-time decision support. Conditions like pre-eclampsia, gestational diabetes, and </a:t>
            </a:r>
            <a:r>
              <a:rPr lang="en-GB" dirty="0" err="1"/>
              <a:t>anemia</a:t>
            </a:r>
            <a:r>
              <a:rPr lang="en-GB" dirty="0"/>
              <a:t> can be detected early, yet they are often missed. Referral delays currently span two to three weeks, but with </a:t>
            </a:r>
            <a:r>
              <a:rPr lang="en-GB" dirty="0" err="1"/>
              <a:t>VitaSakhi</a:t>
            </a:r>
            <a:r>
              <a:rPr lang="en-GB" dirty="0"/>
              <a:t>, we aim to reduce this to under 48 hours.</a:t>
            </a:r>
            <a:endParaRPr lang="en-IN" dirty="0"/>
          </a:p>
        </p:txBody>
      </p:sp>
    </p:spTree>
    <p:extLst>
      <p:ext uri="{BB962C8B-B14F-4D97-AF65-F5344CB8AC3E}">
        <p14:creationId xmlns:p14="http://schemas.microsoft.com/office/powerpoint/2010/main" val="342013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82DC-8B8F-5773-F3B9-0B382CCDC7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D13157-B955-921F-107B-76F8794C0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BE8F45-6E88-24FC-6BE1-2BF874E6C8E3}"/>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Target Audience</a:t>
            </a:r>
          </a:p>
        </p:txBody>
      </p:sp>
      <p:sp>
        <p:nvSpPr>
          <p:cNvPr id="3" name="Subtitle 2">
            <a:extLst>
              <a:ext uri="{FF2B5EF4-FFF2-40B4-BE49-F238E27FC236}">
                <a16:creationId xmlns:a16="http://schemas.microsoft.com/office/drawing/2014/main" id="{DF4A2422-340E-8474-6CA8-CC69D2C58903}"/>
              </a:ext>
            </a:extLst>
          </p:cNvPr>
          <p:cNvSpPr>
            <a:spLocks noGrp="1"/>
          </p:cNvSpPr>
          <p:nvPr>
            <p:ph type="subTitle" idx="1"/>
          </p:nvPr>
        </p:nvSpPr>
        <p:spPr>
          <a:xfrm>
            <a:off x="1071513" y="3445497"/>
            <a:ext cx="10048973" cy="1655762"/>
          </a:xfrm>
        </p:spPr>
        <p:txBody>
          <a:bodyPr>
            <a:normAutofit/>
          </a:bodyPr>
          <a:lstStyle/>
          <a:p>
            <a:pPr algn="l">
              <a:buFont typeface="Arial" panose="020B0604020202020204" pitchFamily="34" charset="0"/>
              <a:buChar char="•"/>
            </a:pPr>
            <a:r>
              <a:rPr lang="en-GB" dirty="0"/>
              <a:t>Primary: 1.05 million ASHA workers conducting antenatal visits in rural India </a:t>
            </a:r>
          </a:p>
          <a:p>
            <a:pPr algn="l">
              <a:buFont typeface="Arial" panose="020B0604020202020204" pitchFamily="34" charset="0"/>
              <a:buChar char="•"/>
            </a:pPr>
            <a:r>
              <a:rPr lang="en-GB" dirty="0"/>
              <a:t>Secondary: PHC doctors receiving unstructured or delayed referrals </a:t>
            </a:r>
          </a:p>
          <a:p>
            <a:pPr algn="l">
              <a:buFont typeface="Arial" panose="020B0604020202020204" pitchFamily="34" charset="0"/>
              <a:buChar char="•"/>
            </a:pPr>
            <a:r>
              <a:rPr lang="en-GB" dirty="0"/>
              <a:t>Scale: 8.8 crore pregnancies annually passing through the ASHA care pathway </a:t>
            </a:r>
          </a:p>
          <a:p>
            <a:pPr algn="l"/>
            <a:endParaRPr lang="en-US" dirty="0"/>
          </a:p>
        </p:txBody>
      </p:sp>
    </p:spTree>
    <p:extLst>
      <p:ext uri="{BB962C8B-B14F-4D97-AF65-F5344CB8AC3E}">
        <p14:creationId xmlns:p14="http://schemas.microsoft.com/office/powerpoint/2010/main" val="365731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0F17-D71F-4E5D-8264-47A9F6A268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C68430-CC32-D06A-B654-DB3AF9A53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C4DFB8E-8883-9ACA-6E6F-AA08D471DCDE}"/>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Existing Solutions</a:t>
            </a:r>
          </a:p>
        </p:txBody>
      </p:sp>
      <p:sp>
        <p:nvSpPr>
          <p:cNvPr id="5" name="Rectangle 1">
            <a:extLst>
              <a:ext uri="{FF2B5EF4-FFF2-40B4-BE49-F238E27FC236}">
                <a16:creationId xmlns:a16="http://schemas.microsoft.com/office/drawing/2014/main" id="{30E32777-6D28-A26D-BA5C-A84CFFAB7A0E}"/>
              </a:ext>
            </a:extLst>
          </p:cNvPr>
          <p:cNvSpPr>
            <a:spLocks noGrp="1" noChangeArrowheads="1"/>
          </p:cNvSpPr>
          <p:nvPr>
            <p:ph type="subTitle" idx="1"/>
          </p:nvPr>
        </p:nvSpPr>
        <p:spPr bwMode="auto">
          <a:xfrm>
            <a:off x="956820" y="3296275"/>
            <a:ext cx="10278359" cy="22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fontAlgn="base">
              <a:spcAft>
                <a:spcPct val="0"/>
              </a:spcAft>
              <a:buClrTx/>
              <a:buSzTx/>
              <a:buFont typeface="Arial" panose="020B0604020202020204" pitchFamily="34" charset="0"/>
              <a:buChar char="•"/>
              <a:tabLst/>
            </a:pPr>
            <a:r>
              <a:rPr lang="en-US" altLang="en-US" dirty="0"/>
              <a:t> Paper ANC checklists: record vitals only, no risk analysis or guidance </a:t>
            </a:r>
          </a:p>
          <a:p>
            <a:pPr marR="0" lvl="0" algn="l" fontAlgn="base">
              <a:spcAft>
                <a:spcPct val="0"/>
              </a:spcAft>
              <a:buClrTx/>
              <a:buSzTx/>
              <a:buFont typeface="Arial" panose="020B0604020202020204" pitchFamily="34" charset="0"/>
              <a:buChar char="•"/>
              <a:tabLst/>
            </a:pPr>
            <a:r>
              <a:rPr lang="en-US" altLang="en-US" dirty="0"/>
              <a:t> EMR systems (</a:t>
            </a:r>
            <a:r>
              <a:rPr lang="en-US" altLang="en-US" dirty="0" err="1"/>
              <a:t>Bahmni</a:t>
            </a:r>
            <a:r>
              <a:rPr lang="en-US" altLang="en-US" dirty="0"/>
              <a:t>, </a:t>
            </a:r>
            <a:r>
              <a:rPr lang="en-US" altLang="en-US" dirty="0" err="1"/>
              <a:t>OpenMRS</a:t>
            </a:r>
            <a:r>
              <a:rPr lang="en-US" altLang="en-US" dirty="0"/>
              <a:t>): require clinics, staff, and internet </a:t>
            </a:r>
          </a:p>
          <a:p>
            <a:pPr marR="0" lvl="0" algn="l" fontAlgn="base">
              <a:spcAft>
                <a:spcPct val="0"/>
              </a:spcAft>
              <a:buClrTx/>
              <a:buSzTx/>
              <a:buFont typeface="Arial" panose="020B0604020202020204" pitchFamily="34" charset="0"/>
              <a:buChar char="•"/>
              <a:tabLst/>
            </a:pPr>
            <a:r>
              <a:rPr lang="en-US" altLang="en-US" dirty="0"/>
              <a:t> Government apps (RCH, NISHCHAY): data entry only, no decision support </a:t>
            </a:r>
          </a:p>
          <a:p>
            <a:pPr marR="0" lvl="0" algn="l" fontAlgn="base">
              <a:spcAft>
                <a:spcPct val="0"/>
              </a:spcAft>
              <a:buClrTx/>
              <a:buSzTx/>
              <a:buFont typeface="Arial" panose="020B0604020202020204" pitchFamily="34" charset="0"/>
              <a:buChar char="•"/>
              <a:tabLst/>
            </a:pPr>
            <a:r>
              <a:rPr lang="en-US" altLang="en-US" dirty="0"/>
              <a:t> Commercial apps (</a:t>
            </a:r>
            <a:r>
              <a:rPr lang="en-US" altLang="en-US" dirty="0" err="1"/>
              <a:t>Practo</a:t>
            </a:r>
            <a:r>
              <a:rPr lang="en-US" altLang="en-US" dirty="0"/>
              <a:t>, </a:t>
            </a:r>
            <a:r>
              <a:rPr lang="en-US" altLang="en-US" dirty="0" err="1"/>
              <a:t>PharmEasy</a:t>
            </a:r>
            <a:r>
              <a:rPr lang="en-US" altLang="en-US" dirty="0"/>
              <a:t>): urban-focused, not ASHA-friendly </a:t>
            </a:r>
          </a:p>
          <a:p>
            <a:pPr marR="0" lvl="0" algn="l" fontAlgn="base">
              <a:spcAft>
                <a:spcPct val="0"/>
              </a:spcAft>
              <a:buClrTx/>
              <a:buSzTx/>
              <a:buFont typeface="Arial" panose="020B0604020202020204" pitchFamily="34" charset="0"/>
              <a:buChar char="•"/>
              <a:tabLst/>
            </a:pPr>
            <a:r>
              <a:rPr lang="en-US" altLang="en-US" dirty="0"/>
              <a:t> None provide instant risk assessment with actionable guidance at point of care </a:t>
            </a:r>
          </a:p>
        </p:txBody>
      </p:sp>
    </p:spTree>
    <p:extLst>
      <p:ext uri="{BB962C8B-B14F-4D97-AF65-F5344CB8AC3E}">
        <p14:creationId xmlns:p14="http://schemas.microsoft.com/office/powerpoint/2010/main" val="236141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E8092-3A14-DA37-5C79-FFB96B58F4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6E1A02-DDF7-89F3-98B0-23412617B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B15C0A3-67F8-05CD-6B78-1C156A8A830D}"/>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Gaps &amp; Opportunities</a:t>
            </a:r>
          </a:p>
        </p:txBody>
      </p:sp>
      <p:sp>
        <p:nvSpPr>
          <p:cNvPr id="3" name="Subtitle 2">
            <a:extLst>
              <a:ext uri="{FF2B5EF4-FFF2-40B4-BE49-F238E27FC236}">
                <a16:creationId xmlns:a16="http://schemas.microsoft.com/office/drawing/2014/main" id="{81B9272C-21BB-FC22-D358-FB4BA9D50EE7}"/>
              </a:ext>
            </a:extLst>
          </p:cNvPr>
          <p:cNvSpPr>
            <a:spLocks noGrp="1"/>
          </p:cNvSpPr>
          <p:nvPr>
            <p:ph type="subTitle" idx="1"/>
          </p:nvPr>
        </p:nvSpPr>
        <p:spPr>
          <a:xfrm>
            <a:off x="1080939" y="3429000"/>
            <a:ext cx="5288438" cy="4618135"/>
          </a:xfrm>
        </p:spPr>
        <p:txBody>
          <a:bodyPr>
            <a:normAutofit/>
          </a:bodyPr>
          <a:lstStyle/>
          <a:p>
            <a:pPr algn="l">
              <a:buNone/>
            </a:pPr>
            <a:r>
              <a:rPr lang="en-GB" b="1" dirty="0"/>
              <a:t>Gaps:</a:t>
            </a:r>
            <a:endParaRPr lang="en-GB" dirty="0"/>
          </a:p>
          <a:p>
            <a:pPr algn="l">
              <a:buFont typeface="Arial" panose="020B0604020202020204" pitchFamily="34" charset="0"/>
              <a:buChar char="•"/>
            </a:pPr>
            <a:r>
              <a:rPr lang="en-GB" dirty="0"/>
              <a:t>No real-time risk scoring at point of care </a:t>
            </a:r>
          </a:p>
          <a:p>
            <a:pPr algn="l">
              <a:buFont typeface="Arial" panose="020B0604020202020204" pitchFamily="34" charset="0"/>
              <a:buChar char="•"/>
            </a:pPr>
            <a:r>
              <a:rPr lang="en-GB" dirty="0"/>
              <a:t>No referral decision logic </a:t>
            </a:r>
          </a:p>
          <a:p>
            <a:pPr algn="l">
              <a:buFont typeface="Arial" panose="020B0604020202020204" pitchFamily="34" charset="0"/>
              <a:buChar char="•"/>
            </a:pPr>
            <a:r>
              <a:rPr lang="en-GB" dirty="0"/>
              <a:t>Lack of explainability → limited trust </a:t>
            </a:r>
          </a:p>
          <a:p>
            <a:pPr algn="l"/>
            <a:endParaRPr lang="en-US" dirty="0"/>
          </a:p>
        </p:txBody>
      </p:sp>
      <p:sp>
        <p:nvSpPr>
          <p:cNvPr id="5" name="Subtitle 2">
            <a:extLst>
              <a:ext uri="{FF2B5EF4-FFF2-40B4-BE49-F238E27FC236}">
                <a16:creationId xmlns:a16="http://schemas.microsoft.com/office/drawing/2014/main" id="{21EDCF65-3533-9DA7-F109-D3E7142D4ECA}"/>
              </a:ext>
            </a:extLst>
          </p:cNvPr>
          <p:cNvSpPr txBox="1">
            <a:spLocks/>
          </p:cNvSpPr>
          <p:nvPr/>
        </p:nvSpPr>
        <p:spPr>
          <a:xfrm>
            <a:off x="6436936" y="3428999"/>
            <a:ext cx="5687505" cy="46181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b="1" dirty="0"/>
              <a:t>Opportunities:</a:t>
            </a:r>
            <a:endParaRPr lang="en-GB" dirty="0"/>
          </a:p>
          <a:p>
            <a:pPr algn="l">
              <a:buFont typeface="Arial" panose="020B0604020202020204" pitchFamily="34" charset="0"/>
              <a:buChar char="•"/>
            </a:pPr>
            <a:r>
              <a:rPr lang="en-GB" dirty="0"/>
              <a:t>Lightweight AI tool for field use </a:t>
            </a:r>
          </a:p>
          <a:p>
            <a:pPr algn="l">
              <a:buFont typeface="Arial" panose="020B0604020202020204" pitchFamily="34" charset="0"/>
              <a:buChar char="•"/>
            </a:pPr>
            <a:r>
              <a:rPr lang="en-GB" dirty="0"/>
              <a:t>Converts 6 vitals → risk level → top 3 reasons → referral action in &lt;30 seconds </a:t>
            </a:r>
          </a:p>
          <a:p>
            <a:pPr algn="l">
              <a:buFont typeface="Arial" panose="020B0604020202020204" pitchFamily="34" charset="0"/>
              <a:buChar char="•"/>
            </a:pPr>
            <a:r>
              <a:rPr lang="en-GB" dirty="0"/>
              <a:t>Usable without clinical training </a:t>
            </a:r>
          </a:p>
          <a:p>
            <a:pPr algn="l"/>
            <a:endParaRPr lang="en-US" dirty="0"/>
          </a:p>
        </p:txBody>
      </p:sp>
    </p:spTree>
    <p:extLst>
      <p:ext uri="{BB962C8B-B14F-4D97-AF65-F5344CB8AC3E}">
        <p14:creationId xmlns:p14="http://schemas.microsoft.com/office/powerpoint/2010/main" val="81080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A417-F70C-76F1-8DA7-9F84EA24E6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AD5367-3E92-5729-6FD7-273C70AAD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287607C-AF5E-2567-232F-3994FF9F27D5}"/>
              </a:ext>
            </a:extLst>
          </p:cNvPr>
          <p:cNvSpPr>
            <a:spLocks noGrp="1"/>
          </p:cNvSpPr>
          <p:nvPr>
            <p:ph type="ctrTitle"/>
          </p:nvPr>
        </p:nvSpPr>
        <p:spPr>
          <a:xfrm>
            <a:off x="1524000" y="1472369"/>
            <a:ext cx="9144000" cy="984385"/>
          </a:xfrm>
        </p:spPr>
        <p:txBody>
          <a:bodyPr/>
          <a:lstStyle/>
          <a:p>
            <a:r>
              <a:rPr lang="en-IN" b="1" dirty="0">
                <a:latin typeface="Montserrat" panose="00000500000000000000" pitchFamily="2" charset="0"/>
              </a:rPr>
              <a:t>Your Solution</a:t>
            </a:r>
          </a:p>
        </p:txBody>
      </p:sp>
      <p:sp>
        <p:nvSpPr>
          <p:cNvPr id="6" name="Rectangle 2">
            <a:extLst>
              <a:ext uri="{FF2B5EF4-FFF2-40B4-BE49-F238E27FC236}">
                <a16:creationId xmlns:a16="http://schemas.microsoft.com/office/drawing/2014/main" id="{D81D32E9-58A4-233E-F755-3B926B79C1FD}"/>
              </a:ext>
            </a:extLst>
          </p:cNvPr>
          <p:cNvSpPr>
            <a:spLocks noGrp="1" noChangeArrowheads="1"/>
          </p:cNvSpPr>
          <p:nvPr>
            <p:ph type="subTitle" idx="1"/>
          </p:nvPr>
        </p:nvSpPr>
        <p:spPr bwMode="auto">
          <a:xfrm>
            <a:off x="1472938" y="2549233"/>
            <a:ext cx="9246124"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fontAlgn="base">
              <a:spcAft>
                <a:spcPct val="0"/>
              </a:spcAft>
              <a:buClrTx/>
              <a:buSzTx/>
              <a:buFont typeface="Arial" panose="020B0604020202020204" pitchFamily="34" charset="0"/>
              <a:buChar char="•"/>
              <a:tabLst/>
            </a:pPr>
            <a:r>
              <a:rPr lang="en-US" altLang="en-US" sz="2000" dirty="0"/>
              <a:t>AI-powered maternal risk screener for ASHA workers </a:t>
            </a:r>
          </a:p>
          <a:p>
            <a:pPr marL="342900" marR="0" lvl="0" indent="-342900" algn="l" fontAlgn="base">
              <a:spcAft>
                <a:spcPct val="0"/>
              </a:spcAft>
              <a:buClrTx/>
              <a:buSzTx/>
              <a:buFont typeface="Arial" panose="020B0604020202020204" pitchFamily="34" charset="0"/>
              <a:buChar char="•"/>
              <a:tabLst/>
            </a:pPr>
            <a:r>
              <a:rPr lang="en-US" altLang="en-US" sz="2000" dirty="0"/>
              <a:t>Enter 6 vitals → receive risk, top 3 reasons, and referral guidance in &lt;30 seconds </a:t>
            </a:r>
          </a:p>
          <a:p>
            <a:pPr marL="342900" marR="0" lvl="0" indent="-342900" algn="l" fontAlgn="base">
              <a:spcAft>
                <a:spcPct val="0"/>
              </a:spcAft>
              <a:buClrTx/>
              <a:buSzTx/>
              <a:buFont typeface="Arial" panose="020B0604020202020204" pitchFamily="34" charset="0"/>
              <a:buChar char="•"/>
              <a:tabLst/>
            </a:pPr>
            <a:r>
              <a:rPr lang="en-US" altLang="en-US" sz="2000" dirty="0"/>
              <a:t>Key attributes: </a:t>
            </a:r>
          </a:p>
          <a:p>
            <a:pPr marR="0" lvl="0" algn="l" fontAlgn="base">
              <a:spcAft>
                <a:spcPct val="0"/>
              </a:spcAft>
              <a:buClrTx/>
              <a:buSzTx/>
              <a:tabLst/>
            </a:pPr>
            <a:r>
              <a:rPr lang="en-US" altLang="en-US" sz="2000" dirty="0"/>
              <a:t>	1. AI-powered: </a:t>
            </a:r>
            <a:r>
              <a:rPr lang="en-US" altLang="en-US" sz="2000" dirty="0" err="1"/>
              <a:t>XGBoost</a:t>
            </a:r>
            <a:r>
              <a:rPr lang="en-US" altLang="en-US" sz="2000" dirty="0"/>
              <a:t> model (AUC 0.82–0.90) </a:t>
            </a:r>
          </a:p>
          <a:p>
            <a:pPr marR="0" lvl="0" algn="l" fontAlgn="base">
              <a:spcAft>
                <a:spcPct val="0"/>
              </a:spcAft>
              <a:buClrTx/>
              <a:buSzTx/>
              <a:tabLst/>
            </a:pPr>
            <a:r>
              <a:rPr lang="en-US" altLang="en-US" sz="2000" dirty="0"/>
              <a:t>	2. Explainable: SHAP-based top 3 reasons in plain English </a:t>
            </a:r>
          </a:p>
          <a:p>
            <a:pPr marR="0" lvl="0" algn="l" fontAlgn="base">
              <a:spcAft>
                <a:spcPct val="0"/>
              </a:spcAft>
              <a:buClrTx/>
              <a:buSzTx/>
              <a:tabLst/>
            </a:pPr>
            <a:r>
              <a:rPr lang="en-US" altLang="en-US" sz="2000" dirty="0"/>
              <a:t>	3. Actionable: Green / Amber / Red referral guidance </a:t>
            </a:r>
          </a:p>
          <a:p>
            <a:pPr marR="0" lvl="0" algn="l" fontAlgn="base">
              <a:spcAft>
                <a:spcPct val="0"/>
              </a:spcAft>
              <a:buClrTx/>
              <a:buSzTx/>
              <a:tabLst/>
            </a:pPr>
            <a:r>
              <a:rPr lang="en-US" altLang="en-US" sz="2000" dirty="0"/>
              <a:t>	4. Local-first: Runs fully offline, no cloud dependency</a:t>
            </a:r>
          </a:p>
          <a:p>
            <a:pPr lvl="0" algn="l" eaLnBrk="0" fontAlgn="base" hangingPunct="0">
              <a:lnSpc>
                <a:spcPct val="100000"/>
              </a:lnSpc>
              <a:spcBef>
                <a:spcPct val="0"/>
              </a:spcBef>
              <a:spcAft>
                <a:spcPct val="0"/>
              </a:spcAft>
            </a:pPr>
            <a:r>
              <a:rPr lang="en-GB" altLang="en-US" sz="2000" b="1" dirty="0">
                <a:solidFill>
                  <a:schemeClr val="bg1"/>
                </a:solidFill>
              </a:rPr>
              <a:t>Our model predicts risk level, explains which vital is the problem, tells the ASHA worker exactly what to say to the patient, flags dangerous readings visually, and tells her when to come back — all in under 30 seconds.</a:t>
            </a:r>
            <a:endParaRPr lang="en-US" altLang="en-US" sz="2000" b="1" dirty="0">
              <a:solidFill>
                <a:schemeClr val="bg1"/>
              </a:solidFill>
            </a:endParaRPr>
          </a:p>
        </p:txBody>
      </p:sp>
    </p:spTree>
    <p:extLst>
      <p:ext uri="{BB962C8B-B14F-4D97-AF65-F5344CB8AC3E}">
        <p14:creationId xmlns:p14="http://schemas.microsoft.com/office/powerpoint/2010/main" val="134791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2507-FD22-2E16-53F4-E66535A41E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BCE28E-E731-156C-EDC9-D5CD678B6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95F80B-DB77-DFBE-02AB-06459A8C987C}"/>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Key Features</a:t>
            </a:r>
          </a:p>
        </p:txBody>
      </p:sp>
      <p:sp>
        <p:nvSpPr>
          <p:cNvPr id="6" name="Rectangle 2">
            <a:extLst>
              <a:ext uri="{FF2B5EF4-FFF2-40B4-BE49-F238E27FC236}">
                <a16:creationId xmlns:a16="http://schemas.microsoft.com/office/drawing/2014/main" id="{944DD2A3-1475-7F17-5EE3-4B174205D175}"/>
              </a:ext>
            </a:extLst>
          </p:cNvPr>
          <p:cNvSpPr>
            <a:spLocks noGrp="1" noChangeArrowheads="1"/>
          </p:cNvSpPr>
          <p:nvPr>
            <p:ph type="subTitle" idx="1"/>
          </p:nvPr>
        </p:nvSpPr>
        <p:spPr bwMode="auto">
          <a:xfrm>
            <a:off x="1973749" y="3545449"/>
            <a:ext cx="8244501" cy="180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algn="l" fontAlgn="base">
              <a:spcAft>
                <a:spcPct val="0"/>
              </a:spcAft>
              <a:buFont typeface="Arial" panose="020B0604020202020204" pitchFamily="34" charset="0"/>
              <a:buChar char="•"/>
            </a:pPr>
            <a:r>
              <a:rPr lang="en-US" altLang="en-US" dirty="0"/>
              <a:t>6-Input Risk Form: simple, validated input for field use </a:t>
            </a:r>
          </a:p>
          <a:p>
            <a:pPr marL="342900" indent="-342900" algn="l" fontAlgn="base">
              <a:spcAft>
                <a:spcPct val="0"/>
              </a:spcAft>
              <a:buFont typeface="Arial" panose="020B0604020202020204" pitchFamily="34" charset="0"/>
              <a:buChar char="•"/>
            </a:pPr>
            <a:r>
              <a:rPr lang="en-US" altLang="en-US" dirty="0"/>
              <a:t>Risk Badge: instant visual output — Low / Mid / High </a:t>
            </a:r>
          </a:p>
          <a:p>
            <a:pPr marL="342900" indent="-342900" algn="l" fontAlgn="base">
              <a:spcAft>
                <a:spcPct val="0"/>
              </a:spcAft>
              <a:buFont typeface="Arial" panose="020B0604020202020204" pitchFamily="34" charset="0"/>
              <a:buChar char="•"/>
            </a:pPr>
            <a:r>
              <a:rPr lang="en-US" altLang="en-US" dirty="0"/>
              <a:t>SHAP Explainability Panel: top 3 reasons in plain language </a:t>
            </a:r>
          </a:p>
          <a:p>
            <a:pPr marL="342900" indent="-342900" algn="l" fontAlgn="base">
              <a:spcAft>
                <a:spcPct val="0"/>
              </a:spcAft>
              <a:buFont typeface="Arial" panose="020B0604020202020204" pitchFamily="34" charset="0"/>
              <a:buChar char="•"/>
            </a:pPr>
            <a:r>
              <a:rPr lang="en-US" altLang="en-US" dirty="0"/>
              <a:t>Referral Card + History: clear action and last 5 patient records </a:t>
            </a:r>
          </a:p>
        </p:txBody>
      </p:sp>
    </p:spTree>
    <p:extLst>
      <p:ext uri="{BB962C8B-B14F-4D97-AF65-F5344CB8AC3E}">
        <p14:creationId xmlns:p14="http://schemas.microsoft.com/office/powerpoint/2010/main" val="160721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CE99-2961-B95A-6509-047601B344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25206E9-DF7E-9DFF-CAC2-03673EB75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1795BD-090E-6657-E419-87C2FF670FCE}"/>
              </a:ext>
            </a:extLst>
          </p:cNvPr>
          <p:cNvSpPr>
            <a:spLocks noGrp="1"/>
          </p:cNvSpPr>
          <p:nvPr>
            <p:ph type="ctrTitle"/>
          </p:nvPr>
        </p:nvSpPr>
        <p:spPr>
          <a:xfrm>
            <a:off x="1524000" y="780964"/>
            <a:ext cx="9144000" cy="927824"/>
          </a:xfrm>
        </p:spPr>
        <p:txBody>
          <a:bodyPr/>
          <a:lstStyle/>
          <a:p>
            <a:r>
              <a:rPr lang="en-IN" b="1" dirty="0">
                <a:latin typeface="Montserrat" panose="00000500000000000000" pitchFamily="2" charset="0"/>
              </a:rPr>
              <a:t>System Architecture</a:t>
            </a:r>
          </a:p>
        </p:txBody>
      </p:sp>
      <p:sp>
        <p:nvSpPr>
          <p:cNvPr id="3" name="Subtitle 2">
            <a:extLst>
              <a:ext uri="{FF2B5EF4-FFF2-40B4-BE49-F238E27FC236}">
                <a16:creationId xmlns:a16="http://schemas.microsoft.com/office/drawing/2014/main" id="{D4A906B9-56E0-797C-DD33-8F28BE5FF209}"/>
              </a:ext>
            </a:extLst>
          </p:cNvPr>
          <p:cNvSpPr>
            <a:spLocks noGrp="1"/>
          </p:cNvSpPr>
          <p:nvPr>
            <p:ph type="subTitle" idx="1"/>
          </p:nvPr>
        </p:nvSpPr>
        <p:spPr/>
        <p:txBody>
          <a:bodyPr/>
          <a:lstStyle/>
          <a:p>
            <a:endParaRPr lang="en-US" dirty="0"/>
          </a:p>
        </p:txBody>
      </p:sp>
      <p:pic>
        <p:nvPicPr>
          <p:cNvPr id="6" name="Picture 5">
            <a:extLst>
              <a:ext uri="{FF2B5EF4-FFF2-40B4-BE49-F238E27FC236}">
                <a16:creationId xmlns:a16="http://schemas.microsoft.com/office/drawing/2014/main" id="{68FB5068-525D-0BDB-5B6F-B98D9BDC6B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8227" y="1829013"/>
            <a:ext cx="8515546" cy="4644843"/>
          </a:xfrm>
          <a:prstGeom prst="rect">
            <a:avLst/>
          </a:prstGeom>
        </p:spPr>
      </p:pic>
    </p:spTree>
    <p:extLst>
      <p:ext uri="{BB962C8B-B14F-4D97-AF65-F5344CB8AC3E}">
        <p14:creationId xmlns:p14="http://schemas.microsoft.com/office/powerpoint/2010/main" val="69631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81B4-DCB3-98E2-06A8-576EFC8065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17783E-C433-A152-F467-61CD75CD3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1FA6C2-5A0A-1FF0-1EBE-5E203A16E6C1}"/>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Tech Stack</a:t>
            </a:r>
          </a:p>
        </p:txBody>
      </p:sp>
      <p:sp>
        <p:nvSpPr>
          <p:cNvPr id="3" name="Subtitle 2">
            <a:extLst>
              <a:ext uri="{FF2B5EF4-FFF2-40B4-BE49-F238E27FC236}">
                <a16:creationId xmlns:a16="http://schemas.microsoft.com/office/drawing/2014/main" id="{3C679BA1-238F-16C1-81DD-F89092E26652}"/>
              </a:ext>
            </a:extLst>
          </p:cNvPr>
          <p:cNvSpPr>
            <a:spLocks noGrp="1"/>
          </p:cNvSpPr>
          <p:nvPr>
            <p:ph type="subTitle" idx="1"/>
          </p:nvPr>
        </p:nvSpPr>
        <p:spPr>
          <a:xfrm>
            <a:off x="1069941" y="3039428"/>
            <a:ext cx="4878371" cy="2943379"/>
          </a:xfrm>
        </p:spPr>
        <p:txBody>
          <a:bodyPr>
            <a:normAutofit/>
          </a:bodyPr>
          <a:lstStyle/>
          <a:p>
            <a:pPr algn="l">
              <a:buNone/>
            </a:pPr>
            <a:r>
              <a:rPr lang="en-IN" b="1" dirty="0"/>
              <a:t>Backend:</a:t>
            </a:r>
            <a:endParaRPr lang="en-IN" dirty="0"/>
          </a:p>
          <a:p>
            <a:pPr algn="l">
              <a:buFont typeface="Arial" panose="020B0604020202020204" pitchFamily="34" charset="0"/>
              <a:buChar char="•"/>
            </a:pPr>
            <a:r>
              <a:rPr lang="en-IN" dirty="0"/>
              <a:t>Python 3.11, </a:t>
            </a:r>
            <a:r>
              <a:rPr lang="en-IN" dirty="0" err="1"/>
              <a:t>FastAPI</a:t>
            </a:r>
            <a:r>
              <a:rPr lang="en-IN" dirty="0"/>
              <a:t>, </a:t>
            </a:r>
            <a:r>
              <a:rPr lang="en-IN" dirty="0" err="1"/>
              <a:t>XGBoost</a:t>
            </a:r>
            <a:r>
              <a:rPr lang="en-IN" dirty="0"/>
              <a:t>, SHAP (</a:t>
            </a:r>
            <a:r>
              <a:rPr lang="en-IN" dirty="0" err="1"/>
              <a:t>TreeExplainer</a:t>
            </a:r>
            <a:r>
              <a:rPr lang="en-IN" dirty="0"/>
              <a:t>), scikit-learn </a:t>
            </a:r>
          </a:p>
          <a:p>
            <a:pPr algn="l">
              <a:buFont typeface="Arial" panose="020B0604020202020204" pitchFamily="34" charset="0"/>
              <a:buChar char="•"/>
            </a:pPr>
            <a:r>
              <a:rPr lang="en-IN" dirty="0"/>
              <a:t>pandas, </a:t>
            </a:r>
            <a:r>
              <a:rPr lang="en-IN" dirty="0" err="1"/>
              <a:t>numpy</a:t>
            </a:r>
            <a:r>
              <a:rPr lang="en-IN" dirty="0"/>
              <a:t>, </a:t>
            </a:r>
            <a:r>
              <a:rPr lang="en-IN" dirty="0" err="1"/>
              <a:t>pydantic</a:t>
            </a:r>
            <a:r>
              <a:rPr lang="en-IN" dirty="0"/>
              <a:t>, </a:t>
            </a:r>
            <a:r>
              <a:rPr lang="en-IN" dirty="0" err="1"/>
              <a:t>uvicorn</a:t>
            </a:r>
            <a:r>
              <a:rPr lang="en-IN" dirty="0"/>
              <a:t> </a:t>
            </a:r>
          </a:p>
          <a:p>
            <a:pPr algn="l">
              <a:buNone/>
            </a:pPr>
            <a:r>
              <a:rPr lang="en-IN" b="1" dirty="0"/>
              <a:t>Frontend:</a:t>
            </a:r>
            <a:endParaRPr lang="en-IN" dirty="0"/>
          </a:p>
          <a:p>
            <a:pPr algn="l">
              <a:buFont typeface="Arial" panose="020B0604020202020204" pitchFamily="34" charset="0"/>
              <a:buChar char="•"/>
            </a:pPr>
            <a:r>
              <a:rPr lang="en-IN" dirty="0"/>
              <a:t>React 18 (Vite), Fetch API, CSS </a:t>
            </a:r>
          </a:p>
          <a:p>
            <a:pPr algn="l"/>
            <a:endParaRPr lang="en-US" dirty="0"/>
          </a:p>
        </p:txBody>
      </p:sp>
      <p:sp>
        <p:nvSpPr>
          <p:cNvPr id="5" name="Subtitle 2">
            <a:extLst>
              <a:ext uri="{FF2B5EF4-FFF2-40B4-BE49-F238E27FC236}">
                <a16:creationId xmlns:a16="http://schemas.microsoft.com/office/drawing/2014/main" id="{1B1F7032-634E-273C-1AD5-D96624800DBC}"/>
              </a:ext>
            </a:extLst>
          </p:cNvPr>
          <p:cNvSpPr txBox="1">
            <a:spLocks/>
          </p:cNvSpPr>
          <p:nvPr/>
        </p:nvSpPr>
        <p:spPr>
          <a:xfrm>
            <a:off x="6243689" y="3039428"/>
            <a:ext cx="4548433" cy="368676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t>Dataset:</a:t>
            </a:r>
            <a:endParaRPr lang="en-IN" dirty="0"/>
          </a:p>
          <a:p>
            <a:pPr algn="l">
              <a:buFont typeface="Arial" panose="020B0604020202020204" pitchFamily="34" charset="0"/>
              <a:buChar char="•"/>
            </a:pPr>
            <a:r>
              <a:rPr lang="en-IN" dirty="0"/>
              <a:t>UCI Maternal Health Risk Dataset </a:t>
            </a:r>
          </a:p>
          <a:p>
            <a:pPr algn="l">
              <a:buFont typeface="Arial" panose="020B0604020202020204" pitchFamily="34" charset="0"/>
              <a:buChar char="•"/>
            </a:pPr>
            <a:r>
              <a:rPr lang="en-IN" dirty="0"/>
              <a:t>1,014 rows → 452 cleaned </a:t>
            </a:r>
          </a:p>
          <a:p>
            <a:pPr algn="l">
              <a:buFont typeface="Arial" panose="020B0604020202020204" pitchFamily="34" charset="0"/>
              <a:buChar char="•"/>
            </a:pPr>
            <a:r>
              <a:rPr lang="en-IN" dirty="0"/>
              <a:t>3 classes: Low / Mid / High </a:t>
            </a:r>
          </a:p>
          <a:p>
            <a:pPr algn="l"/>
            <a:r>
              <a:rPr lang="en-IN" b="1" dirty="0"/>
              <a:t>Model Performance:</a:t>
            </a:r>
            <a:endParaRPr lang="en-IN" dirty="0"/>
          </a:p>
          <a:p>
            <a:pPr algn="l">
              <a:buFont typeface="Arial" panose="020B0604020202020204" pitchFamily="34" charset="0"/>
              <a:buChar char="•"/>
            </a:pPr>
            <a:r>
              <a:rPr lang="en-IN" dirty="0"/>
              <a:t>Accuracy: 72–80% </a:t>
            </a:r>
          </a:p>
          <a:p>
            <a:pPr algn="l">
              <a:buFont typeface="Arial" panose="020B0604020202020204" pitchFamily="34" charset="0"/>
              <a:buChar char="•"/>
            </a:pPr>
            <a:r>
              <a:rPr lang="en-IN" dirty="0"/>
              <a:t>AUC: 0.82–0.90 </a:t>
            </a:r>
          </a:p>
          <a:p>
            <a:pPr algn="l">
              <a:buFont typeface="Arial" panose="020B0604020202020204" pitchFamily="34" charset="0"/>
              <a:buChar char="•"/>
            </a:pPr>
            <a:r>
              <a:rPr lang="en-IN" dirty="0"/>
              <a:t>F1 Score: 0.58–0.68 </a:t>
            </a:r>
          </a:p>
          <a:p>
            <a:pPr algn="l"/>
            <a:endParaRPr lang="en-US" dirty="0"/>
          </a:p>
        </p:txBody>
      </p:sp>
    </p:spTree>
    <p:extLst>
      <p:ext uri="{BB962C8B-B14F-4D97-AF65-F5344CB8AC3E}">
        <p14:creationId xmlns:p14="http://schemas.microsoft.com/office/powerpoint/2010/main" val="2148683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1831-6846-427E-64BB-1014021588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831684-E944-D21A-AEB7-C0CD0756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31271-7B83-E6B0-4697-A9B3A4A0B3E0}"/>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Workflow</a:t>
            </a:r>
          </a:p>
        </p:txBody>
      </p:sp>
      <p:sp>
        <p:nvSpPr>
          <p:cNvPr id="3" name="Subtitle 2">
            <a:extLst>
              <a:ext uri="{FF2B5EF4-FFF2-40B4-BE49-F238E27FC236}">
                <a16:creationId xmlns:a16="http://schemas.microsoft.com/office/drawing/2014/main" id="{E9F3AC6F-97B4-C038-5116-BCDB0E747F31}"/>
              </a:ext>
            </a:extLst>
          </p:cNvPr>
          <p:cNvSpPr>
            <a:spLocks noGrp="1"/>
          </p:cNvSpPr>
          <p:nvPr>
            <p:ph type="subTitle" idx="1"/>
          </p:nvPr>
        </p:nvSpPr>
        <p:spPr>
          <a:xfrm>
            <a:off x="3280528" y="3526623"/>
            <a:ext cx="5630944" cy="3043859"/>
          </a:xfrm>
        </p:spPr>
        <p:txBody>
          <a:bodyPr>
            <a:normAutofit/>
          </a:bodyPr>
          <a:lstStyle/>
          <a:p>
            <a:pPr algn="l">
              <a:buFont typeface="Arial" panose="020B0604020202020204" pitchFamily="34" charset="0"/>
              <a:buChar char="•"/>
            </a:pPr>
            <a:r>
              <a:rPr lang="en-GB" dirty="0"/>
              <a:t>ASHA worker opens app during home visit </a:t>
            </a:r>
          </a:p>
          <a:p>
            <a:pPr algn="l">
              <a:buFont typeface="Arial" panose="020B0604020202020204" pitchFamily="34" charset="0"/>
              <a:buChar char="•"/>
            </a:pPr>
            <a:r>
              <a:rPr lang="en-GB" dirty="0"/>
              <a:t>Enters 6 vitals and hits submit </a:t>
            </a:r>
          </a:p>
          <a:p>
            <a:pPr algn="l">
              <a:buFont typeface="Arial" panose="020B0604020202020204" pitchFamily="34" charset="0"/>
              <a:buChar char="•"/>
            </a:pPr>
            <a:r>
              <a:rPr lang="en-GB" dirty="0"/>
              <a:t>Backend processes data in &lt;2 seconds </a:t>
            </a:r>
          </a:p>
          <a:p>
            <a:pPr algn="l">
              <a:buFont typeface="Arial" panose="020B0604020202020204" pitchFamily="34" charset="0"/>
              <a:buChar char="•"/>
            </a:pPr>
            <a:r>
              <a:rPr lang="en-GB" dirty="0"/>
              <a:t>Risk badge + top 3 reasons displayed </a:t>
            </a:r>
          </a:p>
          <a:p>
            <a:pPr algn="l">
              <a:buFont typeface="Arial" panose="020B0604020202020204" pitchFamily="34" charset="0"/>
              <a:buChar char="•"/>
            </a:pPr>
            <a:r>
              <a:rPr lang="en-GB" dirty="0"/>
              <a:t>ASHA follows referral action </a:t>
            </a:r>
          </a:p>
          <a:p>
            <a:pPr algn="l"/>
            <a:endParaRPr lang="en-US" dirty="0"/>
          </a:p>
        </p:txBody>
      </p:sp>
    </p:spTree>
    <p:extLst>
      <p:ext uri="{BB962C8B-B14F-4D97-AF65-F5344CB8AC3E}">
        <p14:creationId xmlns:p14="http://schemas.microsoft.com/office/powerpoint/2010/main" val="72113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F5D3-4344-4362-805C-8F963B2780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FB6C13-3B8B-52D8-104D-1E08E396A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824925-7E47-111A-5B2A-714F7E54B7D0}"/>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Impact</a:t>
            </a:r>
          </a:p>
        </p:txBody>
      </p:sp>
      <p:sp>
        <p:nvSpPr>
          <p:cNvPr id="3" name="Subtitle 2">
            <a:extLst>
              <a:ext uri="{FF2B5EF4-FFF2-40B4-BE49-F238E27FC236}">
                <a16:creationId xmlns:a16="http://schemas.microsoft.com/office/drawing/2014/main" id="{87292949-4812-3723-5970-052C9D70C07D}"/>
              </a:ext>
            </a:extLst>
          </p:cNvPr>
          <p:cNvSpPr>
            <a:spLocks noGrp="1"/>
          </p:cNvSpPr>
          <p:nvPr>
            <p:ph type="subTitle" idx="1"/>
          </p:nvPr>
        </p:nvSpPr>
        <p:spPr>
          <a:xfrm>
            <a:off x="1524000" y="3429000"/>
            <a:ext cx="9144000" cy="2893031"/>
          </a:xfrm>
        </p:spPr>
        <p:txBody>
          <a:bodyPr>
            <a:normAutofit/>
          </a:bodyPr>
          <a:lstStyle/>
          <a:p>
            <a:pPr algn="l">
              <a:buFont typeface="Arial" panose="020B0604020202020204" pitchFamily="34" charset="0"/>
              <a:buChar char="•"/>
            </a:pPr>
            <a:r>
              <a:rPr lang="en-GB" b="1" dirty="0"/>
              <a:t>1.05 MILLION</a:t>
            </a:r>
            <a:r>
              <a:rPr lang="en-GB" dirty="0"/>
              <a:t> ASHA workers enabled </a:t>
            </a:r>
          </a:p>
          <a:p>
            <a:pPr algn="l">
              <a:buFont typeface="Arial" panose="020B0604020202020204" pitchFamily="34" charset="0"/>
              <a:buChar char="•"/>
            </a:pPr>
            <a:r>
              <a:rPr lang="en-GB" b="1" dirty="0"/>
              <a:t>8.8 CRORE</a:t>
            </a:r>
            <a:r>
              <a:rPr lang="en-GB" dirty="0"/>
              <a:t> pregnancies annually reached </a:t>
            </a:r>
          </a:p>
          <a:p>
            <a:pPr algn="l">
              <a:buFont typeface="Arial" panose="020B0604020202020204" pitchFamily="34" charset="0"/>
              <a:buChar char="•"/>
            </a:pPr>
            <a:r>
              <a:rPr lang="en-GB" b="1" dirty="0"/>
              <a:t>2–3 WEEKS → &lt;48 HOURS</a:t>
            </a:r>
            <a:r>
              <a:rPr lang="en-GB" dirty="0"/>
              <a:t> referral delay reduction </a:t>
            </a:r>
          </a:p>
          <a:p>
            <a:pPr algn="l">
              <a:buFont typeface="Arial" panose="020B0604020202020204" pitchFamily="34" charset="0"/>
              <a:buChar char="•"/>
            </a:pPr>
            <a:r>
              <a:rPr lang="en-GB" dirty="0"/>
              <a:t>Early detection of pre-eclampsia, gestational diabetes, and </a:t>
            </a:r>
            <a:r>
              <a:rPr lang="en-GB" dirty="0" err="1"/>
              <a:t>anemia</a:t>
            </a:r>
            <a:r>
              <a:rPr lang="en-GB" dirty="0"/>
              <a:t> can prevent most maternal deaths at the community level </a:t>
            </a:r>
          </a:p>
          <a:p>
            <a:pPr algn="l"/>
            <a:endParaRPr lang="en-US" dirty="0"/>
          </a:p>
        </p:txBody>
      </p:sp>
    </p:spTree>
    <p:extLst>
      <p:ext uri="{BB962C8B-B14F-4D97-AF65-F5344CB8AC3E}">
        <p14:creationId xmlns:p14="http://schemas.microsoft.com/office/powerpoint/2010/main" val="200124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0058-2A1B-9A2D-4ACF-404877CEEC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AED9E8-8E9E-772E-A148-23AF520FE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38C520-B6A8-E5A5-6C12-E50EB51E1C3E}"/>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Future Scope</a:t>
            </a:r>
          </a:p>
        </p:txBody>
      </p:sp>
      <p:sp>
        <p:nvSpPr>
          <p:cNvPr id="3" name="Subtitle 2">
            <a:extLst>
              <a:ext uri="{FF2B5EF4-FFF2-40B4-BE49-F238E27FC236}">
                <a16:creationId xmlns:a16="http://schemas.microsoft.com/office/drawing/2014/main" id="{A5D0CB7A-4CE2-C98F-181A-2955692E4C9A}"/>
              </a:ext>
            </a:extLst>
          </p:cNvPr>
          <p:cNvSpPr>
            <a:spLocks noGrp="1"/>
          </p:cNvSpPr>
          <p:nvPr>
            <p:ph type="subTitle" idx="1"/>
          </p:nvPr>
        </p:nvSpPr>
        <p:spPr>
          <a:xfrm>
            <a:off x="1927781" y="3564331"/>
            <a:ext cx="8336437" cy="1655762"/>
          </a:xfrm>
        </p:spPr>
        <p:txBody>
          <a:bodyPr/>
          <a:lstStyle/>
          <a:p>
            <a:pPr algn="l">
              <a:buFont typeface="Arial" panose="020B0604020202020204" pitchFamily="34" charset="0"/>
              <a:buChar char="•"/>
            </a:pPr>
            <a:r>
              <a:rPr lang="en-IN" dirty="0"/>
              <a:t>Offline-first model: run entirely in-browser (ONNX / TF.js) </a:t>
            </a:r>
          </a:p>
          <a:p>
            <a:pPr algn="l">
              <a:buFont typeface="Arial" panose="020B0604020202020204" pitchFamily="34" charset="0"/>
              <a:buChar char="•"/>
            </a:pPr>
            <a:r>
              <a:rPr lang="en-IN" dirty="0"/>
              <a:t>Regional language UI: Hindi, Kannada, Tamil support </a:t>
            </a:r>
          </a:p>
          <a:p>
            <a:pPr algn="l">
              <a:buFont typeface="Arial" panose="020B0604020202020204" pitchFamily="34" charset="0"/>
              <a:buChar char="•"/>
            </a:pPr>
            <a:r>
              <a:rPr lang="en-IN" dirty="0"/>
              <a:t>NRHM data integration: train on India-specific maternal datasets </a:t>
            </a:r>
          </a:p>
          <a:p>
            <a:pPr algn="l"/>
            <a:endParaRPr lang="en-US" dirty="0"/>
          </a:p>
        </p:txBody>
      </p:sp>
    </p:spTree>
    <p:extLst>
      <p:ext uri="{BB962C8B-B14F-4D97-AF65-F5344CB8AC3E}">
        <p14:creationId xmlns:p14="http://schemas.microsoft.com/office/powerpoint/2010/main" val="362467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9BC0-B449-3880-DCF1-3623A94293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C3DCD4-1187-52B4-EA97-0B89E26E6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4" y="0"/>
            <a:ext cx="12192000" cy="6858000"/>
          </a:xfrm>
          <a:prstGeom prst="rect">
            <a:avLst/>
          </a:prstGeom>
        </p:spPr>
      </p:pic>
      <p:sp>
        <p:nvSpPr>
          <p:cNvPr id="2" name="Title 1">
            <a:extLst>
              <a:ext uri="{FF2B5EF4-FFF2-40B4-BE49-F238E27FC236}">
                <a16:creationId xmlns:a16="http://schemas.microsoft.com/office/drawing/2014/main" id="{BCC69965-D790-CADB-8E84-39390523C4C1}"/>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Team Info</a:t>
            </a:r>
          </a:p>
        </p:txBody>
      </p:sp>
      <p:sp>
        <p:nvSpPr>
          <p:cNvPr id="6" name="Rectangle 2">
            <a:extLst>
              <a:ext uri="{FF2B5EF4-FFF2-40B4-BE49-F238E27FC236}">
                <a16:creationId xmlns:a16="http://schemas.microsoft.com/office/drawing/2014/main" id="{B8A35DE3-EB13-2BDB-C6EF-256EC4ACC713}"/>
              </a:ext>
            </a:extLst>
          </p:cNvPr>
          <p:cNvSpPr>
            <a:spLocks noGrp="1" noChangeArrowheads="1"/>
          </p:cNvSpPr>
          <p:nvPr>
            <p:ph type="subTitle" idx="1"/>
          </p:nvPr>
        </p:nvSpPr>
        <p:spPr bwMode="auto">
          <a:xfrm>
            <a:off x="3366367" y="3818573"/>
            <a:ext cx="5755293" cy="109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a:r>
              <a:rPr lang="en-US" sz="1800" b="1" dirty="0">
                <a:latin typeface="Open sans" panose="020B0606030504020204" pitchFamily="34" charset="0"/>
                <a:ea typeface="Open sans" panose="020B0606030504020204" pitchFamily="34" charset="0"/>
                <a:cs typeface="Open sans" panose="020B0606030504020204" pitchFamily="34" charset="0"/>
              </a:rPr>
              <a:t>Member 1: Dhruv Patel - </a:t>
            </a:r>
            <a:r>
              <a:rPr lang="en-US" sz="1800" dirty="0">
                <a:latin typeface="Open sans" panose="020B0606030504020204" pitchFamily="34" charset="0"/>
                <a:ea typeface="Open sans" panose="020B0606030504020204" pitchFamily="34" charset="0"/>
                <a:cs typeface="Open sans" panose="020B0606030504020204" pitchFamily="34" charset="0"/>
              </a:rPr>
              <a:t>ML Engineer + Backend</a:t>
            </a:r>
          </a:p>
          <a:p>
            <a:pPr algn="l"/>
            <a:r>
              <a:rPr lang="en-US" sz="1800" b="1" dirty="0">
                <a:latin typeface="Open sans" panose="020B0606030504020204" pitchFamily="34" charset="0"/>
                <a:ea typeface="Open sans" panose="020B0606030504020204" pitchFamily="34" charset="0"/>
                <a:cs typeface="Open sans" panose="020B0606030504020204" pitchFamily="34" charset="0"/>
              </a:rPr>
              <a:t>Member 2: Tanuj Jain - </a:t>
            </a:r>
            <a:r>
              <a:rPr lang="en-US" sz="1800" dirty="0">
                <a:latin typeface="Open sans" panose="020B0606030504020204" pitchFamily="34" charset="0"/>
                <a:ea typeface="Open sans" panose="020B0606030504020204" pitchFamily="34" charset="0"/>
                <a:cs typeface="Open sans" panose="020B0606030504020204" pitchFamily="34" charset="0"/>
              </a:rPr>
              <a:t>Frontend + API Integration</a:t>
            </a:r>
          </a:p>
          <a:p>
            <a:pPr algn="l"/>
            <a:r>
              <a:rPr lang="en-US" sz="1800" b="1" dirty="0">
                <a:latin typeface="Open sans" panose="020B0606030504020204" pitchFamily="34" charset="0"/>
                <a:ea typeface="Open sans" panose="020B0606030504020204" pitchFamily="34" charset="0"/>
                <a:cs typeface="Open sans" panose="020B0606030504020204" pitchFamily="34" charset="0"/>
              </a:rPr>
              <a:t>Member 3: Shailaja Sharma - </a:t>
            </a:r>
            <a:r>
              <a:rPr lang="en-US" sz="1800" dirty="0">
                <a:latin typeface="Open sans" panose="020B0606030504020204" pitchFamily="34" charset="0"/>
                <a:ea typeface="Open sans" panose="020B0606030504020204" pitchFamily="34" charset="0"/>
                <a:cs typeface="Open sans" panose="020B0606030504020204" pitchFamily="34" charset="0"/>
              </a:rPr>
              <a:t>UI/UX + Presentation</a:t>
            </a:r>
          </a:p>
        </p:txBody>
      </p:sp>
    </p:spTree>
    <p:extLst>
      <p:ext uri="{BB962C8B-B14F-4D97-AF65-F5344CB8AC3E}">
        <p14:creationId xmlns:p14="http://schemas.microsoft.com/office/powerpoint/2010/main" val="2135367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666</Words>
  <Application>Microsoft Office PowerPoint</Application>
  <PresentationFormat>Widescreen</PresentationFormat>
  <Paragraphs>77</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Montserrat</vt:lpstr>
      <vt:lpstr>Open sans</vt:lpstr>
      <vt:lpstr>Office Theme</vt:lpstr>
      <vt:lpstr>Title</vt:lpstr>
      <vt:lpstr>Problem Statement</vt:lpstr>
      <vt:lpstr>Target Audience</vt:lpstr>
      <vt:lpstr>Existing Solutions</vt:lpstr>
      <vt:lpstr>Gaps &amp; Opportunities</vt:lpstr>
      <vt:lpstr>Your Solution</vt:lpstr>
      <vt:lpstr>Key Features</vt:lpstr>
      <vt:lpstr>System Architecture</vt:lpstr>
      <vt:lpstr>Tech Stack</vt:lpstr>
      <vt:lpstr>Workflow</vt:lpstr>
      <vt:lpstr>Impact</vt:lpstr>
      <vt:lpstr>Future Scope</vt:lpstr>
      <vt:lpstr>Team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Pranav</dc:creator>
  <cp:lastModifiedBy>Shailaja Sharma</cp:lastModifiedBy>
  <cp:revision>28</cp:revision>
  <dcterms:created xsi:type="dcterms:W3CDTF">2026-04-04T11:36:02Z</dcterms:created>
  <dcterms:modified xsi:type="dcterms:W3CDTF">2026-04-06T09:28:37Z</dcterms:modified>
</cp:coreProperties>
</file>